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62BF2C-0102-454E-B678-A543FB570647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GB"/>
        </a:p>
      </dgm:t>
    </dgm:pt>
    <dgm:pt modelId="{0450F0B4-965B-4CAA-BD0B-0993D9EBE2E0}">
      <dgm:prSet/>
      <dgm:spPr/>
      <dgm:t>
        <a:bodyPr/>
        <a:lstStyle/>
        <a:p>
          <a:r>
            <a:rPr lang="en-GB" b="1" dirty="0"/>
            <a:t>ALU + Control Unit + Registers + Cache  →  Efficient processing</a:t>
          </a:r>
          <a:endParaRPr lang="en-GB" dirty="0"/>
        </a:p>
      </dgm:t>
    </dgm:pt>
    <dgm:pt modelId="{DF141745-AF81-4284-A569-C746D243713B}" type="parTrans" cxnId="{F5DFE0CA-550D-434B-8A31-94BBB476DFCF}">
      <dgm:prSet/>
      <dgm:spPr/>
      <dgm:t>
        <a:bodyPr/>
        <a:lstStyle/>
        <a:p>
          <a:endParaRPr lang="en-GB"/>
        </a:p>
      </dgm:t>
    </dgm:pt>
    <dgm:pt modelId="{92E7FE58-73C9-4801-9756-58A82F174110}" type="sibTrans" cxnId="{F5DFE0CA-550D-434B-8A31-94BBB476DFCF}">
      <dgm:prSet/>
      <dgm:spPr/>
      <dgm:t>
        <a:bodyPr/>
        <a:lstStyle/>
        <a:p>
          <a:endParaRPr lang="en-GB"/>
        </a:p>
      </dgm:t>
    </dgm:pt>
    <dgm:pt modelId="{6EDD1CE7-1097-4374-8B4D-6A7714B3B50B}" type="pres">
      <dgm:prSet presAssocID="{1F62BF2C-0102-454E-B678-A543FB570647}" presName="linear" presStyleCnt="0">
        <dgm:presLayoutVars>
          <dgm:animLvl val="lvl"/>
          <dgm:resizeHandles val="exact"/>
        </dgm:presLayoutVars>
      </dgm:prSet>
      <dgm:spPr/>
    </dgm:pt>
    <dgm:pt modelId="{CFB39E2A-6413-4086-81F3-5B3FCD7BDCDD}" type="pres">
      <dgm:prSet presAssocID="{0450F0B4-965B-4CAA-BD0B-0993D9EBE2E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3507D7F-C3E7-4803-9D11-D9C68C286EC9}" type="presOf" srcId="{0450F0B4-965B-4CAA-BD0B-0993D9EBE2E0}" destId="{CFB39E2A-6413-4086-81F3-5B3FCD7BDCDD}" srcOrd="0" destOrd="0" presId="urn:microsoft.com/office/officeart/2005/8/layout/vList2"/>
    <dgm:cxn modelId="{6B3980A5-7D92-4DE0-9C0A-EC34B6F1B4AF}" type="presOf" srcId="{1F62BF2C-0102-454E-B678-A543FB570647}" destId="{6EDD1CE7-1097-4374-8B4D-6A7714B3B50B}" srcOrd="0" destOrd="0" presId="urn:microsoft.com/office/officeart/2005/8/layout/vList2"/>
    <dgm:cxn modelId="{F5DFE0CA-550D-434B-8A31-94BBB476DFCF}" srcId="{1F62BF2C-0102-454E-B678-A543FB570647}" destId="{0450F0B4-965B-4CAA-BD0B-0993D9EBE2E0}" srcOrd="0" destOrd="0" parTransId="{DF141745-AF81-4284-A569-C746D243713B}" sibTransId="{92E7FE58-73C9-4801-9756-58A82F174110}"/>
    <dgm:cxn modelId="{05647119-9ACA-4389-9184-2AC2656E4238}" type="presParOf" srcId="{6EDD1CE7-1097-4374-8B4D-6A7714B3B50B}" destId="{CFB39E2A-6413-4086-81F3-5B3FCD7BDCD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39E2A-6413-4086-81F3-5B3FCD7BDCDD}">
      <dsp:nvSpPr>
        <dsp:cNvPr id="0" name=""/>
        <dsp:cNvSpPr/>
      </dsp:nvSpPr>
      <dsp:spPr>
        <a:xfrm>
          <a:off x="0" y="13859"/>
          <a:ext cx="5636558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ALU + Control Unit + Registers + Cache  →  Efficient processing</a:t>
          </a:r>
          <a:endParaRPr lang="en-GB" sz="1600" kern="1200" dirty="0"/>
        </a:p>
      </dsp:txBody>
      <dsp:txXfrm>
        <a:off x="18734" y="32593"/>
        <a:ext cx="5599090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701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Fundamentals and Ethics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12680" y="64739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Basics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637" y="618565"/>
            <a:ext cx="3887455" cy="1996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spc="-150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CENTRAL</a:t>
            </a:r>
            <a:endParaRPr lang="en-US" sz="31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100" b="1" spc="-150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PROCESSING</a:t>
            </a:r>
            <a:endParaRPr lang="en-US" sz="31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100" b="1" spc="-150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UNIT</a:t>
            </a:r>
            <a:endParaRPr lang="en-US" sz="31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35882" y="1620819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DD3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</a:t>
            </a:r>
            <a:r>
              <a:rPr lang="en-US" sz="3200" b="1" dirty="0">
                <a:solidFill>
                  <a:srgbClr val="7DD3FC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CPU</a:t>
            </a:r>
            <a:r>
              <a:rPr lang="en-US" sz="3200" b="1" dirty="0">
                <a:solidFill>
                  <a:srgbClr val="7DD3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6494" y="2725269"/>
            <a:ext cx="3871677" cy="25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E7F0"/>
                </a:solidFill>
                <a:latin typeface="Arial Black" panose="020B0A04020102020204" pitchFamily="34" charset="0"/>
                <a:ea typeface="Aptos" pitchFamily="34" charset="-122"/>
                <a:cs typeface="Aptos" pitchFamily="34" charset="-120"/>
              </a:rPr>
              <a:t>Computer Fundamentals and Ethics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6656" y="4315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Members: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689079"/>
            <a:ext cx="297180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AutoNum type="arabicPeriod"/>
            </a:pPr>
            <a:r>
              <a:rPr lang="en-US" sz="1400" b="1" dirty="0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Rasel Chowdhury</a:t>
            </a:r>
          </a:p>
          <a:p>
            <a:pPr marL="228600" indent="-228600">
              <a:buAutoNum type="arabicPeriod"/>
            </a:pPr>
            <a:r>
              <a:rPr lang="en-US" sz="1400" b="1" dirty="0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Al </a:t>
            </a:r>
            <a:r>
              <a:rPr lang="en-US" sz="1400" b="1" dirty="0" err="1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Wahed</a:t>
            </a:r>
            <a:r>
              <a:rPr lang="en-US" sz="1400" b="1" dirty="0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Faisal </a:t>
            </a:r>
            <a:r>
              <a:rPr lang="en-US" sz="1400" b="1" dirty="0" err="1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Siman</a:t>
            </a:r>
            <a:endParaRPr lang="en-US" sz="1400" b="1" dirty="0">
              <a:solidFill>
                <a:srgbClr val="D9E7F0"/>
              </a:solidFill>
              <a:latin typeface="Times New Roman" panose="02020603050405020304" pitchFamily="18" charset="0"/>
              <a:ea typeface="Aptos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3.    </a:t>
            </a:r>
            <a:r>
              <a:rPr lang="en-US" sz="1400" b="1" dirty="0" err="1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Priyanta</a:t>
            </a:r>
            <a:r>
              <a:rPr lang="en-US" sz="1400" b="1" dirty="0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Boiddya</a:t>
            </a:r>
            <a:endParaRPr lang="en-US" sz="1400" b="1" dirty="0">
              <a:solidFill>
                <a:srgbClr val="D9E7F0"/>
              </a:solidFill>
              <a:latin typeface="Times New Roman" panose="02020603050405020304" pitchFamily="18" charset="0"/>
              <a:ea typeface="Aptos" pitchFamily="34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4"/>
            </a:pPr>
            <a:r>
              <a:rPr lang="en-US" sz="1400" b="1" dirty="0" err="1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Uttshob</a:t>
            </a:r>
            <a:r>
              <a:rPr lang="en-US" sz="1400" b="1" dirty="0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Dey </a:t>
            </a:r>
          </a:p>
          <a:p>
            <a:pPr marL="342900" indent="-342900">
              <a:buAutoNum type="arabicPeriod" startAt="4"/>
            </a:pPr>
            <a:r>
              <a:rPr lang="en-US" sz="1400" b="1" dirty="0" err="1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Angkon</a:t>
            </a:r>
            <a:r>
              <a:rPr lang="en-US" sz="1400" b="1" dirty="0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Das</a:t>
            </a:r>
          </a:p>
          <a:p>
            <a:pPr marL="0" indent="0">
              <a:buNone/>
            </a:pPr>
            <a:endParaRPr lang="en-US" sz="11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2834640" cy="1965960"/>
          </a:xfrm>
          <a:prstGeom prst="roundRect">
            <a:avLst>
              <a:gd name="adj" fmla="val 3721"/>
            </a:avLst>
          </a:prstGeom>
          <a:solidFill>
            <a:srgbClr val="102A43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0062" y="2280514"/>
            <a:ext cx="1927555" cy="1336853"/>
          </a:xfrm>
          <a:prstGeom prst="roundRect">
            <a:avLst>
              <a:gd name="adj" fmla="val 4104"/>
            </a:avLst>
          </a:prstGeom>
          <a:solidFill>
            <a:srgbClr val="163A59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0141" y="2713025"/>
            <a:ext cx="1587398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0" b="1" dirty="0">
                <a:solidFill>
                  <a:srgbClr val="FFFFFF"/>
                </a:solidFill>
                <a:latin typeface="Arial Black" panose="020B0A04020102020204" pitchFamily="34" charset="0"/>
                <a:ea typeface="Aptos Display" pitchFamily="34" charset="-122"/>
                <a:cs typeface="Aptos Display" pitchFamily="34" charset="-120"/>
              </a:rPr>
              <a:t>CPU</a:t>
            </a:r>
            <a:endParaRPr lang="en-US" sz="2170" dirty="0">
              <a:latin typeface="Arial Black" panose="020B0A04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0216" y="2080260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1160" y="2080260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0216" y="2414930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81160" y="2414930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2749601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0" y="2749601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3084271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3084271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3418942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3418942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0216" y="3753612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3753612"/>
            <a:ext cx="14630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0820" y="1819656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0820" y="3931920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9226" y="1819656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69226" y="3931920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77633" y="1819656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7633" y="3931920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6039" y="1819656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6039" y="3931920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4446" y="1819656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4446" y="3931920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02852" y="1819656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02852" y="3931920"/>
            <a:ext cx="64008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57356" y="729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64E63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3076" y="8758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FFFFFF"/>
                </a:solidFill>
                <a:latin typeface="Aptos"/>
              </a:rPr>
              <a:t>Control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258296" y="672412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04016" y="8187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FFFFFF"/>
                </a:solidFill>
                <a:latin typeface="Aptos"/>
              </a:rPr>
              <a:t>Logic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738360" y="422452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64E63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0" y="43708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FFFFFF"/>
                </a:solidFill>
                <a:latin typeface="Aptos"/>
              </a:rPr>
              <a:t>Speed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49638" y="4405773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95358" y="4552077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FFFFFF"/>
                </a:solidFill>
                <a:latin typeface="Aptos"/>
              </a:rPr>
              <a:t>Memory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60920" y="5074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64E63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5221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FFFFFF"/>
                </a:solidFill>
                <a:latin typeface="Aptos"/>
              </a:rPr>
              <a:t>Cores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98744" y="1225297"/>
            <a:ext cx="960120" cy="749808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9166860" y="1175333"/>
            <a:ext cx="704088" cy="799772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58400" y="4224528"/>
            <a:ext cx="0" cy="0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7869585" y="3938775"/>
            <a:ext cx="0" cy="1122883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01000" y="5074920"/>
            <a:ext cx="0" cy="0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95364" y="5897880"/>
            <a:ext cx="4928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E7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“brain” that carries out computer instructions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6">
            <a:extLst>
              <a:ext uri="{FF2B5EF4-FFF2-40B4-BE49-F238E27FC236}">
                <a16:creationId xmlns:a16="http://schemas.microsoft.com/office/drawing/2014/main" id="{391040A0-9BDB-4A88-A845-A5A2125893A4}"/>
              </a:ext>
            </a:extLst>
          </p:cNvPr>
          <p:cNvSpPr/>
          <p:nvPr/>
        </p:nvSpPr>
        <p:spPr>
          <a:xfrm>
            <a:off x="9281160" y="3924933"/>
            <a:ext cx="457200" cy="334670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</a:ln>
        </p:spPr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51F6ADBB-03AB-4337-A272-44A38B2740C1}"/>
              </a:ext>
            </a:extLst>
          </p:cNvPr>
          <p:cNvSpPr/>
          <p:nvPr/>
        </p:nvSpPr>
        <p:spPr>
          <a:xfrm flipV="1">
            <a:off x="5835960" y="3915982"/>
            <a:ext cx="622050" cy="488095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</a:ln>
        </p:spPr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AA5CB537-A655-440B-A71A-B42A694BF68B}"/>
              </a:ext>
            </a:extLst>
          </p:cNvPr>
          <p:cNvSpPr/>
          <p:nvPr/>
        </p:nvSpPr>
        <p:spPr>
          <a:xfrm>
            <a:off x="668766" y="3811615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9FC5D8"/>
                </a:solidFill>
                <a:latin typeface="Arial Black" panose="020B0A04020102020204" pitchFamily="34" charset="0"/>
                <a:ea typeface="Aptos" pitchFamily="34" charset="-122"/>
                <a:cs typeface="Aptos" pitchFamily="34" charset="-120"/>
              </a:rPr>
              <a:t>Group Presentation</a:t>
            </a:r>
            <a:endParaRPr lang="en-US" sz="16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7512" y="8595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slides per speaker — about one minute per slide.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620" y="1391191"/>
            <a:ext cx="10652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536192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459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72768" y="1624036"/>
            <a:ext cx="112961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1607709"/>
            <a:ext cx="2148840" cy="21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 dirty="0">
                <a:solidFill>
                  <a:srgbClr val="1F2937"/>
                </a:solidFill>
                <a:latin typeface="Aptos"/>
              </a:rPr>
              <a:t>CPU Introduction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0" y="1609670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What the CPU is and where it works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0652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45059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560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72768" y="2569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2538439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 dirty="0">
                <a:solidFill>
                  <a:srgbClr val="1F2937"/>
                </a:solidFill>
                <a:latin typeface="Aptos"/>
              </a:rPr>
              <a:t>Functions &amp; Cycle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0640" y="2540399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 and Fetch–Decode–Execute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10652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3364992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4747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72768" y="35158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344467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 dirty="0">
                <a:solidFill>
                  <a:srgbClr val="1F2937"/>
                </a:solidFill>
                <a:latin typeface="Aptos"/>
              </a:rPr>
              <a:t>CPU Components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86350" y="3486150"/>
            <a:ext cx="5749290" cy="211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ALU, Control Unit, registers and cache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10652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" y="427939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3891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72768" y="43998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3660" y="436397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Aptos"/>
              </a:rPr>
              <a:t>CPU Performance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86350" y="4376057"/>
            <a:ext cx="5749290" cy="211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Multi-core, clock speed, cache and architecture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5074920"/>
            <a:ext cx="10652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5193792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53035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72768" y="5314295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41824" y="5253881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 dirty="0">
                <a:solidFill>
                  <a:srgbClr val="1F2937"/>
                </a:solidFill>
                <a:latin typeface="Aptos"/>
              </a:rPr>
              <a:t>Types &amp; Conclusion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120639" y="5275432"/>
            <a:ext cx="5754189" cy="22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types, modern processors and key takeaways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CPU?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 dirty="0">
                <a:solidFill>
                  <a:srgbClr val="64748B"/>
                </a:solidFill>
                <a:latin typeface="Aptos"/>
              </a:rPr>
              <a:t>The “brain” that processes instructions and controls operations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65800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21424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Processing Unit</a:t>
            </a:r>
            <a:endParaRPr lang="en-US" sz="2000" b="1" dirty="0"/>
          </a:p>
        </p:txBody>
      </p:sp>
      <p:sp>
        <p:nvSpPr>
          <p:cNvPr id="9" name="Text 7"/>
          <p:cNvSpPr/>
          <p:nvPr/>
        </p:nvSpPr>
        <p:spPr>
          <a:xfrm>
            <a:off x="1097280" y="1969220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64748B"/>
                </a:solidFill>
                <a:latin typeface="Aptos"/>
              </a:rPr>
              <a:t>The CPU Processes Program Instructions And Helps Control The Operations Of A Computer.</a:t>
            </a:r>
            <a:endParaRPr lang="en-GB" sz="1600" b="1" dirty="0"/>
          </a:p>
        </p:txBody>
      </p:sp>
      <p:sp>
        <p:nvSpPr>
          <p:cNvPr id="10" name="Shape 8"/>
          <p:cNvSpPr/>
          <p:nvPr/>
        </p:nvSpPr>
        <p:spPr>
          <a:xfrm>
            <a:off x="841248" y="26364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599832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Job</a:t>
            </a:r>
            <a:endParaRPr lang="en-US" sz="2000" b="1" dirty="0"/>
          </a:p>
        </p:txBody>
      </p:sp>
      <p:sp>
        <p:nvSpPr>
          <p:cNvPr id="12" name="Text 10"/>
          <p:cNvSpPr/>
          <p:nvPr/>
        </p:nvSpPr>
        <p:spPr>
          <a:xfrm>
            <a:off x="1097280" y="2939464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64748B"/>
                </a:solidFill>
                <a:latin typeface="Aptos"/>
              </a:rPr>
              <a:t>It Receives Instructions, Processes Data, Performs Operations, And Produces Results.</a:t>
            </a:r>
            <a:endParaRPr lang="en-GB" sz="1600" b="1" dirty="0"/>
          </a:p>
        </p:txBody>
      </p:sp>
      <p:sp>
        <p:nvSpPr>
          <p:cNvPr id="13" name="Shape 11"/>
          <p:cNvSpPr/>
          <p:nvPr/>
        </p:nvSpPr>
        <p:spPr>
          <a:xfrm>
            <a:off x="841248" y="364224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605672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It Is</a:t>
            </a:r>
            <a:endParaRPr lang="en-US" sz="2000" b="1" dirty="0"/>
          </a:p>
        </p:txBody>
      </p:sp>
      <p:sp>
        <p:nvSpPr>
          <p:cNvPr id="15" name="Text 13"/>
          <p:cNvSpPr/>
          <p:nvPr/>
        </p:nvSpPr>
        <p:spPr>
          <a:xfrm>
            <a:off x="1097280" y="3961633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CPU Is Installed On The Motherboard Inside The System Unit.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807382" y="758952"/>
            <a:ext cx="4069080" cy="425196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4" name="Text 42"/>
          <p:cNvSpPr/>
          <p:nvPr/>
        </p:nvSpPr>
        <p:spPr>
          <a:xfrm>
            <a:off x="7258724" y="4526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CPU = Processor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7104888" y="4983480"/>
            <a:ext cx="3246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sz="1250">
                <a:solidFill>
                  <a:srgbClr val="64748B"/>
                </a:solidFill>
                <a:latin typeface="Aptos"/>
              </a:rPr>
              <a:t>Modern CPUs can contain multiple processing cores for more efficient work.</a:t>
            </a:r>
            <a:endParaRPr lang="en-US" sz="12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85494BB-8AF9-47C5-A3AE-5E65F199A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809" y="1340169"/>
            <a:ext cx="2966047" cy="29747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CPU Fits into a Computer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The CPU works together with memory, storage and input/output devices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2770632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72244" y="2670048"/>
            <a:ext cx="566928" cy="6400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8288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2770632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86843" y="2670048"/>
            <a:ext cx="566928" cy="6400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8288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 b="1">
                <a:solidFill>
                  <a:srgbClr val="C2410C"/>
                </a:solidFill>
                <a:latin typeface="Aptos Display"/>
              </a:rPr>
              <a:t>RAM / Memory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53328" y="2770632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>
                <a:solidFill>
                  <a:srgbClr val="1F2937"/>
                </a:solidFill>
                <a:latin typeface="Aptos"/>
              </a:rPr>
              <a:t>Data and
instructions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92479" y="2670048"/>
            <a:ext cx="566928" cy="6400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8288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 b="1">
                <a:solidFill>
                  <a:srgbClr val="6D28D9"/>
                </a:solidFill>
                <a:latin typeface="Aptos Display"/>
              </a:rPr>
              <a:t>Output / Storage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67928" y="2770632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>
                <a:solidFill>
                  <a:srgbClr val="1F2937"/>
                </a:solidFill>
                <a:latin typeface="Aptos"/>
              </a:rPr>
              <a:t>Display
Storage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40280" y="480060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102A43"/>
                </a:solidFill>
                <a:latin typeface="Aptos"/>
              </a:rPr>
              <a:t>The CPU coordinates with RAM, storage and input/output devices to complete tasks.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Aptos Display"/>
              </a:rPr>
              <a:t>Main Functions of the CPU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Processing instructions and controlling computer operations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369A1"/>
                </a:solidFill>
                <a:latin typeface="Aptos"/>
              </a:rPr>
              <a:t>Speaker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556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047857"/>
                </a:solidFill>
                <a:latin typeface="Aptos Display"/>
              </a:rPr>
              <a:t>Process Instructions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2359152"/>
            <a:ext cx="3794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1F2937"/>
                </a:solidFill>
                <a:latin typeface="Aptos"/>
              </a:rPr>
              <a:t>The CPU receives and processes instructions from computer programs.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182112"/>
            <a:ext cx="3794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sz="1400" i="1">
                <a:solidFill>
                  <a:srgbClr val="64748B"/>
                </a:solidFill>
                <a:latin typeface="Aptos"/>
              </a:rPr>
              <a:t>It determines what operation needs to be performed.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737360" cy="68580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4407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Controls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1389888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17556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1D4ED8"/>
                </a:solidFill>
                <a:latin typeface="Aptos Display"/>
              </a:rPr>
              <a:t>Perform Operations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95160" y="2359152"/>
            <a:ext cx="3794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1F2937"/>
                </a:solidFill>
                <a:latin typeface="Aptos"/>
              </a:rPr>
              <a:t>It performs arithmetic, logical, comparison and data-movement operations.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3182112"/>
            <a:ext cx="3794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sz="1400" i="1">
                <a:solidFill>
                  <a:srgbClr val="64748B"/>
                </a:solidFill>
                <a:latin typeface="Aptos"/>
              </a:rPr>
              <a:t>Examples: calculate, compare values, move data, control tasks.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18120" y="4133088"/>
            <a:ext cx="2194560" cy="749808"/>
          </a:xfrm>
          <a:prstGeom prst="roundRect">
            <a:avLst>
              <a:gd name="adj" fmla="val 609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4370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</a:rPr>
              <a:t>5 + 3 = 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Aptos Display"/>
              </a:rPr>
              <a:t>Fetch–Decode–Execute Cycle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The basic process the CPU uses to carry out instructions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369A1"/>
                </a:solidFill>
                <a:latin typeface="Aptos"/>
              </a:rPr>
              <a:t>Speaker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556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102A43"/>
                </a:solidFill>
                <a:latin typeface="Aptos Display"/>
              </a:rPr>
              <a:t>1. Fetch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235915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>
                <a:solidFill>
                  <a:srgbClr val="1F2937"/>
                </a:solidFill>
                <a:latin typeface="Aptos"/>
              </a:rPr>
              <a:t>The CPU gets an instruction from memory.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980944"/>
            <a:ext cx="3794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sz="1400">
                <a:solidFill>
                  <a:srgbClr val="64748B"/>
                </a:solidFill>
                <a:latin typeface="Aptos"/>
              </a:rPr>
              <a:t>The instruction tells the CPU what task needs to be performed.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4160520"/>
            <a:ext cx="658368" cy="54864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3342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</a:rPr>
              <a:t>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58568" y="4160520"/>
            <a:ext cx="658368" cy="5486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43342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99816" y="4160520"/>
            <a:ext cx="658368" cy="54864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9816" y="43342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41064" y="4160520"/>
            <a:ext cx="658368" cy="5486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41064" y="43342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</a:rPr>
              <a:t>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141732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7556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102A43"/>
                </a:solidFill>
                <a:latin typeface="Aptos Display"/>
              </a:rPr>
              <a:t>2. Decode  →  3. Execute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95160" y="235915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>
                <a:solidFill>
                  <a:srgbClr val="1F2937"/>
                </a:solidFill>
                <a:latin typeface="Aptos"/>
              </a:rPr>
              <a:t>Decode: the CPU interprets the instruction and identifies the required action.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054096"/>
            <a:ext cx="3794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sz="1400">
                <a:solidFill>
                  <a:srgbClr val="64748B"/>
                </a:solidFill>
                <a:latin typeface="Aptos"/>
              </a:rPr>
              <a:t>Execute: the CPU performs the operation; the result may then be kept in a register or memory.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70064" y="4224528"/>
            <a:ext cx="3063240" cy="53035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5512" y="438912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ptos"/>
              </a:rPr>
              <a:t>Fetch  →  Decode  →  Execute  →  Repeat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Aptos Display"/>
              </a:rPr>
              <a:t>Main Components of the CPU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ALU, Control Unit, Registers and Cache work together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369A1"/>
                </a:solidFill>
                <a:latin typeface="Aptos"/>
              </a:rPr>
              <a:t>Speaker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1664208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1901952"/>
            <a:ext cx="731520" cy="7315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0472" y="2121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2862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100" b="1">
                <a:solidFill>
                  <a:srgbClr val="102A43"/>
                </a:solidFill>
                <a:latin typeface="Aptos Display"/>
              </a:rPr>
              <a:t>ALU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9264" y="3410712"/>
            <a:ext cx="17830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sz="1300">
                <a:solidFill>
                  <a:srgbClr val="64748B"/>
                </a:solidFill>
                <a:latin typeface="Aptos"/>
              </a:rPr>
              <a:t>Arithmetic and logical
operations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99816" y="2743200"/>
            <a:ext cx="393192" cy="53035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1296" y="1664208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6824" y="1901952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2121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67328" y="2862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100" b="1">
                <a:solidFill>
                  <a:srgbClr val="102A43"/>
                </a:solidFill>
                <a:latin typeface="Aptos Display"/>
              </a:rPr>
              <a:t>Control Unit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785616" y="3410712"/>
            <a:ext cx="17830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sz="1300">
                <a:solidFill>
                  <a:srgbClr val="64748B"/>
                </a:solidFill>
                <a:latin typeface="Aptos"/>
              </a:rPr>
              <a:t>Coordinates CPU
activities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16168" y="2743200"/>
            <a:ext cx="393192" cy="53035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1664208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1901952"/>
            <a:ext cx="731520" cy="7315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2121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2862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100" b="1">
                <a:solidFill>
                  <a:srgbClr val="102A43"/>
                </a:solidFill>
                <a:latin typeface="Aptos Display"/>
              </a:rPr>
              <a:t>Registers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601968" y="3410712"/>
            <a:ext cx="17830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sz="1300">
                <a:solidFill>
                  <a:srgbClr val="64748B"/>
                </a:solidFill>
                <a:latin typeface="Aptos"/>
              </a:rPr>
              <a:t>Very fast temporary
storage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32520" y="2743200"/>
            <a:ext cx="393192" cy="53035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64208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39528" y="1901952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9528" y="2121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00032" y="2862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100" b="1">
                <a:solidFill>
                  <a:srgbClr val="102A43"/>
                </a:solidFill>
                <a:latin typeface="Aptos Display"/>
              </a:rPr>
              <a:t>Cache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418320" y="3410712"/>
            <a:ext cx="17830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sz="1300">
                <a:solidFill>
                  <a:srgbClr val="64748B"/>
                </a:solidFill>
                <a:latin typeface="Aptos"/>
              </a:rPr>
              <a:t>Keeps frequently used
data close to CPU</a:t>
            </a:r>
            <a:endParaRPr lang="en-US" sz="1300" dirty="0"/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EC1023A2-A4EF-49D2-A1DF-20DB415CB3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6776829"/>
              </p:ext>
            </p:extLst>
          </p:nvPr>
        </p:nvGraphicFramePr>
        <p:xfrm>
          <a:off x="3095061" y="4965192"/>
          <a:ext cx="5636559" cy="411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Aptos Display"/>
              </a:rPr>
              <a:t>How CPU Components Work Together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Each internal component has a different role during processing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369A1"/>
                </a:solidFill>
                <a:latin typeface="Aptos"/>
              </a:rPr>
              <a:t>Speaker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900" b="1">
                <a:solidFill>
                  <a:srgbClr val="102A43"/>
                </a:solidFill>
                <a:latin typeface="Aptos Display"/>
              </a:rPr>
              <a:t>Control Unit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Directs and coordinates the activities of the CPU.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1051560" cy="512064"/>
          </a:xfrm>
          <a:prstGeom prst="roundRect">
            <a:avLst>
              <a:gd name="adj" fmla="val 535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054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F2937"/>
                </a:solidFill>
                <a:latin typeface="Aptos"/>
              </a:rPr>
              <a:t>Instruction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331720"/>
            <a:ext cx="1051560" cy="512064"/>
          </a:xfrm>
          <a:prstGeom prst="roundRect">
            <a:avLst>
              <a:gd name="adj" fmla="val 535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25054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F2937"/>
                </a:solidFill>
                <a:latin typeface="Aptos"/>
              </a:rPr>
              <a:t>CU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28416" y="2331720"/>
            <a:ext cx="1051560" cy="512064"/>
          </a:xfrm>
          <a:prstGeom prst="roundRect">
            <a:avLst>
              <a:gd name="adj" fmla="val 535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5054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F2937"/>
                </a:solidFill>
                <a:latin typeface="Aptos"/>
              </a:rPr>
              <a:t>Registers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35424" y="2331720"/>
            <a:ext cx="1051560" cy="512064"/>
          </a:xfrm>
          <a:prstGeom prst="roundRect">
            <a:avLst>
              <a:gd name="adj" fmla="val 535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25054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F2937"/>
                </a:solidFill>
                <a:latin typeface="Aptos"/>
              </a:rPr>
              <a:t>ALU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971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 b="1">
                <a:solidFill>
                  <a:srgbClr val="64748B"/>
                </a:solidFill>
                <a:latin typeface="Aptos"/>
              </a:rPr>
              <a:t>Processing flow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flipV="1">
            <a:off x="1920240" y="3081529"/>
            <a:ext cx="3666744" cy="5223"/>
          </a:xfrm>
          <a:prstGeom prst="line">
            <a:avLst/>
          </a:prstGeom>
          <a:ln w="317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922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900" b="1">
                <a:solidFill>
                  <a:srgbClr val="102A43"/>
                </a:solidFill>
                <a:latin typeface="Aptos Display"/>
              </a:rPr>
              <a:t>Registers and ALU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Registers hold current data; the ALU performs arithmetic, logic and comparisons.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29400" y="24688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02A43"/>
                </a:solidFill>
                <a:latin typeface="Aptos"/>
              </a:rPr>
              <a:t>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14032" y="2359152"/>
            <a:ext cx="841248" cy="45720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25146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Register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74152" y="2359152"/>
            <a:ext cx="841248" cy="457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74152" y="25146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ALU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34272" y="2359152"/>
            <a:ext cx="841248" cy="45720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25146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Result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94392" y="2359152"/>
            <a:ext cx="841248" cy="4572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94392" y="25146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Register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29400" y="3163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 dirty="0">
                <a:solidFill>
                  <a:srgbClr val="102A43"/>
                </a:solidFill>
                <a:latin typeface="Aptos"/>
              </a:rPr>
              <a:t>Cache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74152" y="3054096"/>
            <a:ext cx="841248" cy="45720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74152" y="320954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Fast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34272" y="3054096"/>
            <a:ext cx="841248" cy="457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34272" y="320954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Data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94392" y="3054096"/>
            <a:ext cx="841248" cy="45720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94392" y="320954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Access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29399" y="3867912"/>
            <a:ext cx="767443" cy="1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 dirty="0">
                <a:solidFill>
                  <a:srgbClr val="102A43"/>
                </a:solidFill>
                <a:latin typeface="Aptos"/>
              </a:rPr>
              <a:t>Together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34272" y="3749040"/>
            <a:ext cx="841248" cy="45720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34272" y="390448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CU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994392" y="3749040"/>
            <a:ext cx="841248" cy="457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94392" y="390448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ptos"/>
              </a:rPr>
              <a:t>ALU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57400" y="4251960"/>
            <a:ext cx="8092440" cy="987552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4544568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047857"/>
                </a:solidFill>
                <a:latin typeface="Aptos"/>
              </a:rPr>
              <a:t>Main idea: the Control Unit coordinates the work, registers hold current information, and the ALU performs the required operation.</a:t>
            </a:r>
            <a:endParaRPr lang="en-US" sz="15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Affects CPU Performance?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Several factors work together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444752"/>
            <a:ext cx="507492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44752"/>
            <a:ext cx="109728" cy="17190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Clock Speed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64748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Measured in GHz. Higher clock speed means more clock cycles per second.</a:t>
            </a:r>
            <a:endParaRPr lang="en-US" sz="13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1444752"/>
            <a:ext cx="507492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44752"/>
            <a:ext cx="109728" cy="17190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 of Cores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64748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More cores can handle more work at the same time.</a:t>
            </a:r>
            <a:endParaRPr lang="en-US" sz="13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" y="3593592"/>
            <a:ext cx="507492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93592"/>
            <a:ext cx="109728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31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solidFill>
                  <a:srgbClr val="102A43"/>
                </a:solidFill>
                <a:latin typeface="Aptos Display"/>
              </a:rPr>
              <a:t>Processor Architecture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343400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sz="1320" b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design and architecture affect how efficiently instructions are processed.</a:t>
            </a:r>
            <a:endParaRPr lang="en-US" sz="13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63640" y="3593592"/>
            <a:ext cx="507492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93592"/>
            <a:ext cx="109728" cy="1719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831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Cache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4343400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64748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Frequently used data stays close to the CPU for faster access.</a:t>
            </a:r>
            <a:endParaRPr lang="en-US" sz="13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80360" y="562356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0F766E"/>
                </a:solidFill>
                <a:latin typeface="Aptos"/>
              </a:rPr>
              <a:t>CPU performance depends on several factors working together — not only clock speed.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7">
            <a:extLst>
              <a:ext uri="{FF2B5EF4-FFF2-40B4-BE49-F238E27FC236}">
                <a16:creationId xmlns:a16="http://schemas.microsoft.com/office/drawing/2014/main" id="{DB9A977B-DCDF-4E59-9E1E-A315D2E45042}"/>
              </a:ext>
            </a:extLst>
          </p:cNvPr>
          <p:cNvSpPr/>
          <p:nvPr/>
        </p:nvSpPr>
        <p:spPr>
          <a:xfrm>
            <a:off x="5454666" y="3861726"/>
            <a:ext cx="4983121" cy="1024043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Shape 37">
            <a:extLst>
              <a:ext uri="{FF2B5EF4-FFF2-40B4-BE49-F238E27FC236}">
                <a16:creationId xmlns:a16="http://schemas.microsoft.com/office/drawing/2014/main" id="{E4762619-E2E7-4437-958C-ACED665C7191}"/>
              </a:ext>
            </a:extLst>
          </p:cNvPr>
          <p:cNvSpPr/>
          <p:nvPr/>
        </p:nvSpPr>
        <p:spPr>
          <a:xfrm>
            <a:off x="5480300" y="2791525"/>
            <a:ext cx="4983121" cy="923813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Shape 37">
            <a:extLst>
              <a:ext uri="{FF2B5EF4-FFF2-40B4-BE49-F238E27FC236}">
                <a16:creationId xmlns:a16="http://schemas.microsoft.com/office/drawing/2014/main" id="{C5BE0A42-9AD9-43DF-8275-3300C387BEBE}"/>
              </a:ext>
            </a:extLst>
          </p:cNvPr>
          <p:cNvSpPr/>
          <p:nvPr/>
        </p:nvSpPr>
        <p:spPr>
          <a:xfrm>
            <a:off x="5472414" y="1577434"/>
            <a:ext cx="4983121" cy="114300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Multi-Core Processors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chip can contain two or more separate processor cores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32120" y="181517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88152" y="1778602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More than one core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788152" y="2052922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 multi-core processor has two or more separate processor cores on a single chip.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532120" y="289417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88152" y="2857594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Parallel work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788152" y="3131914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Different cores can work on different tasks or parts of a task at the same time.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532120" y="399145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88152" y="3954874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Why it matters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788152" y="4229194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cores can improve performance by sharing work instead of relying only on clock speed.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788152" y="5055378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Examples: Dual-core • Quad-core • Octa-core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2EA3E96-18E6-4401-A7F4-078885991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8187"/>
            <a:ext cx="4681728" cy="336684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Aptos Display"/>
              </a:rPr>
              <a:t>Types of CPUs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Processors are designed for different devices and purposes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369A1"/>
                </a:solidFill>
                <a:latin typeface="Aptos"/>
              </a:rPr>
              <a:t>Speaker 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61288" y="5127169"/>
            <a:ext cx="3263755" cy="5306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sz="1400" b="1" dirty="0">
                <a:solidFill>
                  <a:srgbClr val="C2410C"/>
                </a:solidFill>
                <a:latin typeface="Aptos"/>
              </a:rPr>
              <a:t>Different devices need different balances of performance, power use and efficiency.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0" y="1481328"/>
            <a:ext cx="50749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42432" y="1737360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1901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10528" y="16550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Aptos"/>
              </a:rPr>
              <a:t>Desktop CPUs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510528" y="196596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30">
                <a:solidFill>
                  <a:srgbClr val="64748B"/>
                </a:solidFill>
                <a:latin typeface="Aptos"/>
              </a:rPr>
              <a:t>Designed for personal computers with a strong focus on performance.</a:t>
            </a:r>
            <a:endParaRPr lang="en-US" sz="1230" dirty="0"/>
          </a:p>
        </p:txBody>
      </p:sp>
      <p:sp>
        <p:nvSpPr>
          <p:cNvPr id="44" name="Shape 42"/>
          <p:cNvSpPr/>
          <p:nvPr/>
        </p:nvSpPr>
        <p:spPr>
          <a:xfrm>
            <a:off x="5486400" y="2871216"/>
            <a:ext cx="50749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42432" y="3127248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42432" y="329184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510528" y="30449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Aptos"/>
              </a:rPr>
              <a:t>Laptop CPUs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10528" y="335584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30">
                <a:solidFill>
                  <a:srgbClr val="64748B"/>
                </a:solidFill>
                <a:latin typeface="Aptos"/>
              </a:rPr>
              <a:t>Balance performance with battery life and lower power consumption.</a:t>
            </a:r>
            <a:endParaRPr lang="en-US" sz="1230" dirty="0"/>
          </a:p>
        </p:txBody>
      </p:sp>
      <p:sp>
        <p:nvSpPr>
          <p:cNvPr id="49" name="Shape 47"/>
          <p:cNvSpPr/>
          <p:nvPr/>
        </p:nvSpPr>
        <p:spPr>
          <a:xfrm>
            <a:off x="5486400" y="4261104"/>
            <a:ext cx="50749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42432" y="451713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42432" y="468172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510528" y="4434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Aptos"/>
              </a:rPr>
              <a:t>Mobile / Server CPUs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510528" y="4745736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30">
                <a:solidFill>
                  <a:srgbClr val="64748B"/>
                </a:solidFill>
                <a:latin typeface="Aptos"/>
              </a:rPr>
              <a:t>Specialized processors are also used in phones, tablets, servers and embedded systems.</a:t>
            </a:r>
            <a:endParaRPr lang="en-US" sz="123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B4E4AF1-5B35-466B-A460-DF1782915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01" y="1544680"/>
            <a:ext cx="2950285" cy="352534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256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0704" y="731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>
                <a:solidFill>
                  <a:srgbClr val="64748B"/>
                </a:solidFill>
                <a:latin typeface="Aptos"/>
              </a:rPr>
              <a:t>Five ideas to remember from our presentation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738360" y="283464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3566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1456180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26979"/>
            <a:ext cx="475488" cy="128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19072" y="1592035"/>
            <a:ext cx="2011680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80114" y="1552193"/>
            <a:ext cx="6866162" cy="34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instructions and controls computer operations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220370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5000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19072" y="2306900"/>
            <a:ext cx="2967228" cy="35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 dirty="0">
                <a:solidFill>
                  <a:srgbClr val="1F2937"/>
                </a:solidFill>
                <a:latin typeface="Aptos"/>
              </a:rPr>
              <a:t>Fetch–Decode–Execute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03366" y="2324207"/>
            <a:ext cx="6902087" cy="353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cycle used to carry out instructions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0120" y="3008376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15468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53759" y="3062584"/>
            <a:ext cx="2180190" cy="38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 dirty="0">
                <a:solidFill>
                  <a:srgbClr val="1F2937"/>
                </a:solidFill>
                <a:latin typeface="Aptos"/>
              </a:rPr>
              <a:t>ALU + CU + Registers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22961" y="3154680"/>
            <a:ext cx="6882492" cy="248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internal components with different roles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60120" y="381304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95935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670088" y="393257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22960" y="3856808"/>
            <a:ext cx="68139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Cores, clock speed, cache and architecture matter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60120" y="4617720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7640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694580" y="4737243"/>
            <a:ext cx="2011680" cy="19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 dirty="0">
                <a:solidFill>
                  <a:srgbClr val="1F2937"/>
                </a:solidFill>
                <a:latin typeface="Aptos"/>
              </a:rPr>
              <a:t>CPU Types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799" y="4640253"/>
            <a:ext cx="6854734" cy="30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Desktop, laptop, mobile, server and embedded processors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011680" y="5486400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570585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905</Words>
  <Application>Microsoft Office PowerPoint</Application>
  <PresentationFormat>Widescreen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Premier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Processing Unit (CPU)</dc:title>
  <dc:subject>CPU Basics - Computer Fundamentals and Ethics</dc:subject>
  <dc:creator>Student Group</dc:creator>
  <cp:lastModifiedBy>raselchy845@gmail.com</cp:lastModifiedBy>
  <cp:revision>19</cp:revision>
  <dcterms:created xsi:type="dcterms:W3CDTF">2026-09-02T18:55:38Z</dcterms:created>
  <dcterms:modified xsi:type="dcterms:W3CDTF">2026-09-06T18:48:15Z</dcterms:modified>
</cp:coreProperties>
</file>